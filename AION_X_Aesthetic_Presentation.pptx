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121829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77240"/>
            <a:ext cx="999713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50" b="1">
                <a:solidFill>
                  <a:srgbClr val="38BDF8"/>
                </a:solidFill>
              </a:defRPr>
            </a:pPr>
            <a:r>
              <a:t>MAJOR PROJECT PRESENTATION</a:t>
            </a:r>
          </a:p>
          <a:p>
            <a:pPr>
              <a:spcAft>
                <a:spcPts val="800"/>
              </a:spcAft>
              <a:defRPr sz="2050" b="1">
                <a:solidFill>
                  <a:srgbClr val="F8FAFC"/>
                </a:solidFill>
              </a:defRPr>
            </a:pPr>
            <a:r>
              <a:t>AUTONOMOUS SELF-EVOLVING MULTI-AGENT SYSTEM FOR SCIENTIFIC DISCOVERY WITH NEURO-SYMBOLIC REASONING AND CAUSAL INTELLIGENCE</a:t>
            </a:r>
          </a:p>
          <a:p>
            <a:pPr>
              <a:defRPr sz="1300">
                <a:solidFill>
                  <a:srgbClr val="818CF8"/>
                </a:solidFill>
              </a:defRPr>
            </a:pPr>
            <a:r>
              <a:t>A 16-Agent Swarm for Literature Mining, Adversarial Falsification &amp; AST Sandbox 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108960"/>
            <a:ext cx="4846320" cy="2834640"/>
          </a:xfrm>
          <a:prstGeom prst="roundRect">
            <a:avLst/>
          </a:prstGeom>
          <a:solidFill>
            <a:srgbClr val="0E1322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324612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38BDF8"/>
                </a:solidFill>
              </a:defRPr>
            </a:pPr>
            <a:r>
              <a:t>👥  PROJECT ASSOCIATES</a:t>
            </a:r>
          </a:p>
          <a:p>
            <a:pPr>
              <a:spcAft>
                <a:spcPts val="500"/>
              </a:spcAft>
              <a:defRPr sz="1150" b="1">
                <a:solidFill>
                  <a:srgbClr val="F8FAFC"/>
                </a:solidFill>
              </a:defRPr>
            </a:pPr>
            <a:r>
              <a:t>• Mubhashirin Naaz  —  3VC23CI065</a:t>
            </a:r>
          </a:p>
          <a:p>
            <a:pPr>
              <a:spcAft>
                <a:spcPts val="500"/>
              </a:spcAft>
              <a:defRPr sz="1150" b="1">
                <a:solidFill>
                  <a:srgbClr val="F8FAFC"/>
                </a:solidFill>
              </a:defRPr>
            </a:pPr>
            <a:r>
              <a:t>• Agnas Devassia  —  3VC23CI004</a:t>
            </a:r>
          </a:p>
          <a:p>
            <a:pPr>
              <a:spcAft>
                <a:spcPts val="500"/>
              </a:spcAft>
              <a:defRPr sz="1150" b="1">
                <a:solidFill>
                  <a:srgbClr val="F8FAFC"/>
                </a:solidFill>
              </a:defRPr>
            </a:pPr>
            <a:r>
              <a:t>• J. Shravani  —  3VC23CI046</a:t>
            </a:r>
          </a:p>
          <a:p>
            <a:pPr>
              <a:spcAft>
                <a:spcPts val="500"/>
              </a:spcAft>
              <a:defRPr sz="1150" b="1">
                <a:solidFill>
                  <a:srgbClr val="F8FAFC"/>
                </a:solidFill>
              </a:defRPr>
            </a:pPr>
            <a:r>
              <a:t>• Lavanya R S  —  3VC24CI400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108960"/>
            <a:ext cx="4846320" cy="2834640"/>
          </a:xfrm>
          <a:prstGeom prst="roundRect">
            <a:avLst/>
          </a:prstGeom>
          <a:solidFill>
            <a:srgbClr val="0E1322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324612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4D399"/>
                </a:solidFill>
              </a:defRPr>
            </a:pPr>
            <a:r>
              <a:t>🎓  UNDER THE GUIDANCE OF</a:t>
            </a:r>
          </a:p>
          <a:p>
            <a:pPr>
              <a:spcAft>
                <a:spcPts val="400"/>
              </a:spcAft>
              <a:defRPr sz="1550" b="1">
                <a:solidFill>
                  <a:srgbClr val="F8FAFC"/>
                </a:solidFill>
              </a:defRPr>
            </a:pPr>
            <a:r>
              <a:t>Dr. Sai Madhavi D</a:t>
            </a:r>
          </a:p>
          <a:p>
            <a:pPr>
              <a:spcAft>
                <a:spcPts val="600"/>
              </a:spcAft>
              <a:defRPr sz="1250" b="1">
                <a:solidFill>
                  <a:srgbClr val="38BDF8"/>
                </a:solidFill>
              </a:defRPr>
            </a:pPr>
            <a:r>
              <a:t>HOD, CSE (AI &amp; ML)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Department of Computer Science &amp; Engineering</a:t>
            </a:r>
            <a:br/>
            <a:r>
              <a:t>(Artificial Intelligence &amp; Machine Learning)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01 •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Table of Contents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20640" cy="822960"/>
          </a:xfrm>
          <a:prstGeom prst="roundRect">
            <a:avLst/>
          </a:prstGeom>
          <a:solidFill>
            <a:srgbClr val="121829"/>
          </a:solidFill>
          <a:ln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27048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38BDF8"/>
                </a:solidFill>
              </a:defRPr>
            </a:pPr>
            <a:r>
              <a:t>01.  Introduction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Motivation &amp; multi-agent paradigm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5120640" cy="822960"/>
          </a:xfrm>
          <a:prstGeom prst="roundRect">
            <a:avLst/>
          </a:prstGeom>
          <a:solidFill>
            <a:srgbClr val="121829"/>
          </a:solidFill>
          <a:ln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87168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38BDF8"/>
                </a:solidFill>
              </a:defRPr>
            </a:pPr>
            <a:r>
              <a:t>02.  Literature Survey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5 Foundational IEEE/ACM papers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5120640" cy="822960"/>
          </a:xfrm>
          <a:prstGeom prst="roundRect">
            <a:avLst/>
          </a:prstGeom>
          <a:solidFill>
            <a:srgbClr val="121829"/>
          </a:solidFill>
          <a:ln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47288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38BDF8"/>
                </a:solidFill>
              </a:defRPr>
            </a:pPr>
            <a:r>
              <a:t>03.  Area &amp; Problem Statement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Hallucination, sycophancy &amp; code gaps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97680"/>
            <a:ext cx="5120640" cy="822960"/>
          </a:xfrm>
          <a:prstGeom prst="roundRect">
            <a:avLst/>
          </a:prstGeom>
          <a:solidFill>
            <a:srgbClr val="121829"/>
          </a:solidFill>
          <a:ln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07408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38BDF8"/>
                </a:solidFill>
              </a:defRPr>
            </a:pPr>
            <a:r>
              <a:t>04.  Objective of the Project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Core goals &amp; deliverables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57800"/>
            <a:ext cx="5120640" cy="822960"/>
          </a:xfrm>
          <a:prstGeom prst="roundRect">
            <a:avLst/>
          </a:prstGeom>
          <a:solidFill>
            <a:srgbClr val="121829"/>
          </a:solidFill>
          <a:ln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67528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38BDF8"/>
                </a:solidFill>
              </a:defRPr>
            </a:pPr>
            <a:r>
              <a:t>05.  System Design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5-Tier architecture &amp; high-level diagram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17320"/>
            <a:ext cx="5212080" cy="822960"/>
          </a:xfrm>
          <a:prstGeom prst="roundRect">
            <a:avLst/>
          </a:prstGeom>
          <a:solidFill>
            <a:srgbClr val="121829"/>
          </a:solidFill>
          <a:ln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2704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38BDF8"/>
                </a:solidFill>
              </a:defRPr>
            </a:pPr>
            <a:r>
              <a:t>06.  Tools &amp; Technologies Used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Python, Streamlit, FAISS, AST &amp; SQLite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377440"/>
            <a:ext cx="5212080" cy="822960"/>
          </a:xfrm>
          <a:prstGeom prst="roundRect">
            <a:avLst/>
          </a:prstGeom>
          <a:solidFill>
            <a:srgbClr val="121829"/>
          </a:solidFill>
          <a:ln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48716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38BDF8"/>
                </a:solidFill>
              </a:defRPr>
            </a:pPr>
            <a:r>
              <a:t>07.  Implementation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6-Step pipeline &amp; Swarm operating modes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337560"/>
            <a:ext cx="5212080" cy="822960"/>
          </a:xfrm>
          <a:prstGeom prst="roundRect">
            <a:avLst/>
          </a:prstGeom>
          <a:solidFill>
            <a:srgbClr val="121829"/>
          </a:solidFill>
          <a:ln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44728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38BDF8"/>
                </a:solidFill>
              </a:defRPr>
            </a:pPr>
            <a:r>
              <a:t>08.  Testing &amp; Verification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PyTest suite, AST security &amp; citations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297680"/>
            <a:ext cx="5212080" cy="822960"/>
          </a:xfrm>
          <a:prstGeom prst="roundRect">
            <a:avLst/>
          </a:prstGeom>
          <a:solidFill>
            <a:srgbClr val="121829"/>
          </a:solidFill>
          <a:ln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40740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38BDF8"/>
                </a:solidFill>
              </a:defRPr>
            </a:pPr>
            <a:r>
              <a:t>09.  Conclusion &amp; Future Work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Milestones achieved &amp; extension roadmap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5257800"/>
            <a:ext cx="5212080" cy="822960"/>
          </a:xfrm>
          <a:prstGeom prst="roundRect">
            <a:avLst/>
          </a:prstGeom>
          <a:solidFill>
            <a:srgbClr val="121829"/>
          </a:solidFill>
          <a:ln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536752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38BDF8"/>
                </a:solidFill>
              </a:defRPr>
            </a:pPr>
            <a:r>
              <a:t>10.  References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Standard IEEE academic citations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02 •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Introduction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83280" cy="4846320"/>
          </a:xfrm>
          <a:prstGeom prst="roundRect">
            <a:avLst/>
          </a:prstGeom>
          <a:solidFill>
            <a:srgbClr val="121829"/>
          </a:solidFill>
          <a:ln w="1270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2926080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📚  Research Bottlenecks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Manual Literature Review: Researchers spend weeks reading hundreds of PDFs to find one gap.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Cognitive Overload: Hard to connect discoveries across different scientific fields.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Slow Discovery Cycles: Heuristic trial-and-error delays breakthroughs.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4846320"/>
          </a:xfrm>
          <a:prstGeom prst="roundRect">
            <a:avLst/>
          </a:prstGeom>
          <a:solidFill>
            <a:srgbClr val="121829"/>
          </a:solidFill>
          <a:ln w="1778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00200"/>
            <a:ext cx="2926080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⚠️  Flaws in Standard AI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AI Sycophancy: Models blindly agree with users, confirming incorrect science.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Hallucinated Citations: Invent non-existent authors, papers, and fake DOIs.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No Code Execution: Models generate text essays without executing test code.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17320"/>
            <a:ext cx="3383280" cy="4846320"/>
          </a:xfrm>
          <a:prstGeom prst="roundRect">
            <a:avLst/>
          </a:prstGeom>
          <a:solidFill>
            <a:srgbClr val="121829"/>
          </a:solidFill>
          <a:ln w="177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600200"/>
            <a:ext cx="2926080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4D399"/>
                </a:solidFill>
              </a:defRPr>
            </a:pPr>
            <a:r>
              <a:t>🧬  The AION X Paradigm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16-Agent Swarm: Autonomous AI agents collaborate like a laboratory team.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Popperian Falsification: Kill Chain actively tries to disprove hypotheses.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Safe AST Sandbox: Generates and executes Python test code in isolation.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03 • PRIOR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Literature Survey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286000"/>
                <a:gridCol w="2103120"/>
                <a:gridCol w="2194560"/>
                <a:gridCol w="2224735"/>
              </a:tblGrid>
              <a:tr h="807720">
                <a:tc>
                  <a:txBody>
                    <a:bodyPr wrap="square"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Year / Author Name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Title of the Work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Methodology Used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Accomplished Work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Limitation / Gap</a:t>
                      </a:r>
                    </a:p>
                  </a:txBody>
                  <a:tcPr anchor="ctr">
                    <a:solidFill>
                      <a:srgbClr val="0284C7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2026</a:t>
                      </a:r>
                      <a:br/>
                      <a:r>
                        <a:t>R. Sharma et al.</a:t>
                      </a:r>
                    </a:p>
                  </a:txBody>
                  <a:tcPr anchor="ctr">
                    <a:solidFill>
                      <a:srgbClr val="1218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Multi-Agent Debate Architectures for Fact Checking (IEEE TAI)</a:t>
                      </a:r>
                    </a:p>
                  </a:txBody>
                  <a:tcPr anchor="ctr">
                    <a:solidFill>
                      <a:srgbClr val="1218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Dual-agent cross-examination debate to spot factual mistakes.</a:t>
                      </a:r>
                    </a:p>
                  </a:txBody>
                  <a:tcPr anchor="ctr">
                    <a:solidFill>
                      <a:srgbClr val="1218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Reduced AI hallucination errors by 34% in text answers.</a:t>
                      </a:r>
                    </a:p>
                  </a:txBody>
                  <a:tcPr anchor="ctr">
                    <a:solidFill>
                      <a:srgbClr val="1218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Checked text only; could not write or execute test code.</a:t>
                      </a:r>
                    </a:p>
                  </a:txBody>
                  <a:tcPr anchor="ctr">
                    <a:solidFill>
                      <a:srgbClr val="121829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2026</a:t>
                      </a:r>
                      <a:br/>
                      <a:r>
                        <a:t>A. Mehta et al.</a:t>
                      </a:r>
                    </a:p>
                  </a:txBody>
                  <a:tcPr anchor="ctr">
                    <a:solidFill>
                      <a:srgbClr val="0E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Secure AST Analysis for Automated Code Gen (IEEE TSE)</a:t>
                      </a:r>
                    </a:p>
                  </a:txBody>
                  <a:tcPr anchor="ctr">
                    <a:solidFill>
                      <a:srgbClr val="0E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AST syntax tree scanning to block dangerous commands.</a:t>
                      </a:r>
                    </a:p>
                  </a:txBody>
                  <a:tcPr anchor="ctr">
                    <a:solidFill>
                      <a:srgbClr val="0E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Stopped AI-generated code from executing illegal system calls.</a:t>
                      </a:r>
                    </a:p>
                  </a:txBody>
                  <a:tcPr anchor="ctr">
                    <a:solidFill>
                      <a:srgbClr val="0E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Lacked hypothesis generation &amp; causal modeling.</a:t>
                      </a:r>
                    </a:p>
                  </a:txBody>
                  <a:tcPr anchor="ctr">
                    <a:solidFill>
                      <a:srgbClr val="0E1220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2026</a:t>
                      </a:r>
                      <a:br/>
                      <a:r>
                        <a:t>M. Roberts et al.</a:t>
                      </a:r>
                    </a:p>
                  </a:txBody>
                  <a:tcPr anchor="ctr">
                    <a:solidFill>
                      <a:srgbClr val="1218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Automated Metric Frameworks for Measuring Novelty (IEEE)</a:t>
                      </a:r>
                    </a:p>
                  </a:txBody>
                  <a:tcPr anchor="ctr">
                    <a:solidFill>
                      <a:srgbClr val="1218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Semantic embeddings &amp; keyword distance scoring.</a:t>
                      </a:r>
                    </a:p>
                  </a:txBody>
                  <a:tcPr anchor="ctr">
                    <a:solidFill>
                      <a:srgbClr val="1218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Quantified literature novelty against indexed papers.</a:t>
                      </a:r>
                    </a:p>
                  </a:txBody>
                  <a:tcPr anchor="ctr">
                    <a:solidFill>
                      <a:srgbClr val="1218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Checked keyword novelty only, not scientific truth.</a:t>
                      </a:r>
                    </a:p>
                  </a:txBody>
                  <a:tcPr anchor="ctr">
                    <a:solidFill>
                      <a:srgbClr val="121829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2026</a:t>
                      </a:r>
                      <a:br/>
                      <a:r>
                        <a:t>D. Miller et al.</a:t>
                      </a:r>
                    </a:p>
                  </a:txBody>
                  <a:tcPr anchor="ctr">
                    <a:solidFill>
                      <a:srgbClr val="0E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RAG-Driven Knowledge Retrieval for Research (ACM CS)</a:t>
                      </a:r>
                    </a:p>
                  </a:txBody>
                  <a:tcPr anchor="ctr">
                    <a:solidFill>
                      <a:srgbClr val="0E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Vector database (FAISS) indexing for paper search.</a:t>
                      </a:r>
                    </a:p>
                  </a:txBody>
                  <a:tcPr anchor="ctr">
                    <a:solidFill>
                      <a:srgbClr val="0E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Rapidly retrieved relevant passages from large paper sets.</a:t>
                      </a:r>
                    </a:p>
                  </a:txBody>
                  <a:tcPr anchor="ctr">
                    <a:solidFill>
                      <a:srgbClr val="0E12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Allowed unverified citations without live API checks.</a:t>
                      </a:r>
                    </a:p>
                  </a:txBody>
                  <a:tcPr anchor="ctr">
                    <a:solidFill>
                      <a:srgbClr val="0E1220"/>
                    </a:solidFill>
                  </a:tcPr>
                </a:tc>
              </a:tr>
              <a:tr h="807720"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2026</a:t>
                      </a:r>
                      <a:br/>
                      <a:r>
                        <a:t>E. Johnson et al.</a:t>
                      </a:r>
                    </a:p>
                  </a:txBody>
                  <a:tcPr anchor="ctr">
                    <a:solidFill>
                      <a:srgbClr val="1218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Self-Correcting LLM Frameworks for Science (Elsevier AIR)</a:t>
                      </a:r>
                    </a:p>
                  </a:txBody>
                  <a:tcPr anchor="ctr">
                    <a:solidFill>
                      <a:srgbClr val="1218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Self-reflection prompts to revise draft papers.</a:t>
                      </a:r>
                    </a:p>
                  </a:txBody>
                  <a:tcPr anchor="ctr">
                    <a:solidFill>
                      <a:srgbClr val="1218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Improved grammar, formatting, and structural quality.</a:t>
                      </a:r>
                    </a:p>
                  </a:txBody>
                  <a:tcPr anchor="ctr">
                    <a:solidFill>
                      <a:srgbClr val="1218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Single-model bias; lacked independent adversarial critics.</a:t>
                      </a:r>
                    </a:p>
                  </a:txBody>
                  <a:tcPr anchor="ctr">
                    <a:solidFill>
                      <a:srgbClr val="12182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04 • DOMAIN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Area and 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4114800" cy="4846320"/>
          </a:xfrm>
          <a:prstGeom prst="roundRect">
            <a:avLst/>
          </a:prstGeom>
          <a:solidFill>
            <a:srgbClr val="121829"/>
          </a:solidFill>
          <a:ln w="1270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3657600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🎯  Research Domain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Core Domain: Autonomous AI for Science (AI4Science).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Key Sub-Disciplines: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  - Multi-Agent Systems (16 coordinated agents)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  - Causal Inference (ATE, IPW, E-Values)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  - Abstract Syntax Tree (AST) Sandboxing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  - Real Academic Mining (ArXiv &amp; PubMed APIs)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Core Goal: Accelerate hypothesis discovery with verified empirical rigor.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417320"/>
            <a:ext cx="6309360" cy="4846320"/>
          </a:xfrm>
          <a:prstGeom prst="roundRect">
            <a:avLst/>
          </a:prstGeom>
          <a:solidFill>
            <a:srgbClr val="121829"/>
          </a:solidFill>
          <a:ln w="1778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49240" y="1600200"/>
            <a:ext cx="5852160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⚠️  Core Problem Statements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1. Sycophantic Bias: LLMs agree with user prompts, validating wrong science.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2. Fabricated Citations: Models invent fake papers, authors, and broken DOIs.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3. Absence of Code Execution: AI generates text essays without running code.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4. Correlation vs. Causation: Models mistake superficial correlations for causes.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5. Manual Literature Fatigue: Researchers take weeks finding unresearched gaps.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05 • CORE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Objective of the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749808"/>
          </a:xfrm>
          <a:prstGeom prst="roundRect">
            <a:avLst/>
          </a:prstGeom>
          <a:solidFill>
            <a:srgbClr val="121829"/>
          </a:solidFill>
          <a:ln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44752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🔍  Objective 1: Autonomous Literature Mining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Query ArXiv &amp; PubMed with a Citation Firewall ensuring 100% real papers.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12848"/>
            <a:ext cx="10728655" cy="749808"/>
          </a:xfrm>
          <a:prstGeom prst="roundRect">
            <a:avLst/>
          </a:prstGeom>
          <a:solidFill>
            <a:srgbClr val="121829"/>
          </a:solidFill>
          <a:ln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🔎  Objective 2: Topological Gap Detection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Analyze existing literature to isolate limitations and unanswered research voids.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54096"/>
            <a:ext cx="10728655" cy="749808"/>
          </a:xfrm>
          <a:prstGeom prst="roundRect">
            <a:avLst/>
          </a:prstGeom>
          <a:solidFill>
            <a:srgbClr val="121829"/>
          </a:solidFill>
          <a:ln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127248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🧬  Objective 3: Causal Hypothesis Formulation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Synthesize structured hypothesis genomes specifying causal paths (X -&gt; Y -&gt; Z).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95344"/>
            <a:ext cx="10728655" cy="749808"/>
          </a:xfrm>
          <a:prstGeom prst="roundRect">
            <a:avLst/>
          </a:prstGeom>
          <a:solidFill>
            <a:srgbClr val="121829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968496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⚔️  Objective 4: 10-Stage Popperian Kill Chain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Adversarially challenge hypotheses through counter-literature and boundary stress.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36592"/>
            <a:ext cx="10728655" cy="749808"/>
          </a:xfrm>
          <a:prstGeom prst="roundRect">
            <a:avLst/>
          </a:prstGeom>
          <a:solidFill>
            <a:srgbClr val="121829"/>
          </a:solidFill>
          <a:ln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809744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🧪  Objective 5: AST-Secured Process Sandbox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Execute Python simulations safely in an isolated sandbox with zero host escape.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577840"/>
            <a:ext cx="10728655" cy="749808"/>
          </a:xfrm>
          <a:prstGeom prst="roundRect">
            <a:avLst/>
          </a:prstGeom>
          <a:solidFill>
            <a:srgbClr val="121829"/>
          </a:solidFill>
          <a:ln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650992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📦  Objective 6: Verified Capsule Export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Compile verified breakthroughs into downloadable PPTX, DOCX, LaTeX, &amp; PDF packages.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06 •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System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303520" cy="4937760"/>
          </a:xfrm>
          <a:prstGeom prst="roundRect">
            <a:avLst/>
          </a:prstGeom>
          <a:solidFill>
            <a:srgbClr val="121829"/>
          </a:solidFill>
          <a:ln w="1270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4846320" cy="4617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🏗️  5-Tier Modular System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Layer 1: User Interface (Streamlit HUD)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  - Web dashboard with Turbo Mode (&lt;3s) &amp; Deep Swarm Mode.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  - File uploads: PDF, Word, and CSV datasets.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Layer 2: 16-Agent Swarm (Swarm Orchestrator)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  - Asynchronous Message Bus coordinating 16 specialized agents.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Layer 3: Knowledge Base &amp; Citation Firewall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  - Live ArXiv/PubMed APIs + FAISS vector search.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Layer 4: Debate Arena &amp; 10-Stage Kill Chain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  - Critic attacks ideas; failed paths stored in Failure Vault.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Layer 5: AST Sandbox &amp; Capsule Exporter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  - Safe Python sandbox and multi-format research dossier compiler.</a:t>
            </a:r>
          </a:p>
        </p:txBody>
      </p:sp>
      <p:pic>
        <p:nvPicPr>
          <p:cNvPr id="8" name="Picture 7" descr="system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2120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07 •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Tools &amp; Technologies Used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2377440"/>
          </a:xfrm>
          <a:prstGeom prst="roundRect">
            <a:avLst/>
          </a:prstGeom>
          <a:solidFill>
            <a:srgbClr val="121829"/>
          </a:solidFill>
          <a:ln w="1778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4663440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💻  Web UI &amp; Visualizations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Python 3.10+: Core programming language.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Streamlit (v1.30+): High-performance Cosmic HUD.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Plotly &amp; Matplotlib: Interactive scientific plots.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NetworkX &amp; PyVis: Dynamic 3D knowledge graphs.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2377440"/>
          </a:xfrm>
          <a:prstGeom prst="roundRect">
            <a:avLst/>
          </a:prstGeom>
          <a:solidFill>
            <a:srgbClr val="121829"/>
          </a:solidFill>
          <a:ln w="1778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4754880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🧠  AI &amp; Vector Retrieval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Google Gemini API: Large language model backbone.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Sentence-Transformers: High-dimensional semantic embeddings.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FAISS (CPU): Ultra-fast vector similarity search.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Scikit-learn &amp; SciPy: Statistical significance metrics.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377440"/>
          </a:xfrm>
          <a:prstGeom prst="roundRect">
            <a:avLst/>
          </a:prstGeom>
          <a:solidFill>
            <a:srgbClr val="121829"/>
          </a:solidFill>
          <a:ln w="177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14800"/>
            <a:ext cx="4663440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4D399"/>
                </a:solidFill>
              </a:defRPr>
            </a:pPr>
            <a:r>
              <a:t>🛡️  Security &amp; Sandboxing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Python AST Module: Inspects syntax &amp; blocks OS calls.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Subprocess Isolation: Process-isolated code runner.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Citation Firewall: Live DOI matching against ArXiv/PubMed.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Resource Watchdog: Auto-terminates hung scripts.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121829"/>
          </a:solidFill>
          <a:ln w="177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114800"/>
            <a:ext cx="4754880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4D399"/>
                </a:solidFill>
              </a:defRPr>
            </a:pPr>
            <a:r>
              <a:t>📦  Storage &amp; Exporters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SQLite3 (ctsd_memory.db): Research history &amp; ratings.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Online APIs: ArXiv API, PubMed Entrez API.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Ingestion: PyPDF2, python-docx, and markdown parser.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Exporters: python-pptx, xhtml2pdf, and zipfile.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08 •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303520" cy="4937760"/>
          </a:xfrm>
          <a:prstGeom prst="roundRect">
            <a:avLst/>
          </a:prstGeom>
          <a:solidFill>
            <a:srgbClr val="121829"/>
          </a:solidFill>
          <a:ln w="1270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4846320" cy="4617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⚙️  Discovery Execution Pipeline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Step-by-Step Discovery Lifecycle: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  1. Ingest: User enters research question or attaches PDF.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  2. Mine: Researcher queries ArXiv &amp; PubMed with DOI checks.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  3. Synthesize: Gap Agent finds voids; Innovator formulates ideas.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  4. Refute: Critic &amp; Skeptic challenge ideas in 10-stage kill chain.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  5. Simulate: Experiment Agent runs Python code in AST sandbox.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  6. Package: Report Agent compiles PPTX, DOCX, LaTeX, &amp; PDF.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Dual Operating Modes: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  - Turbo Acceleration: Sub-3s parallel discovery using cache.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  - Deep Swarm Mode: Multi-turn adversarial tournament debate.</a:t>
            </a:r>
          </a:p>
        </p:txBody>
      </p:sp>
      <p:pic>
        <p:nvPicPr>
          <p:cNvPr id="8" name="Picture 7" descr="implementation_work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21208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09 •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Testing &amp; Verification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83280" cy="4846320"/>
          </a:xfrm>
          <a:prstGeom prst="roundRect">
            <a:avLst/>
          </a:prstGeom>
          <a:solidFill>
            <a:srgbClr val="121829"/>
          </a:solidFill>
          <a:ln w="1270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2926080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🧪  Test Methodology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25+ PyTest Modules in /tests: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  - test_full_discovery_pipeline.py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  - test_kill_chain.py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  - test_process_sandbox.py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  - test_citation_verifier.py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Unit &amp; Integration Testing: Validates agent transitions, FAISS retrieval, and SQLite ACID persistence.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AST Security Audit: Probed with os.system, socket, and eval calls to verify sandbox isolation.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4846320"/>
          </a:xfrm>
          <a:prstGeom prst="roundRect">
            <a:avLst/>
          </a:prstGeom>
          <a:solidFill>
            <a:srgbClr val="121829"/>
          </a:solidFill>
          <a:ln w="177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00200"/>
            <a:ext cx="2926080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4D399"/>
                </a:solidFill>
              </a:defRPr>
            </a:pPr>
            <a:r>
              <a:t>📊  Empirical Test Results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100% Citation Accuracy: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  - Zero hallucinated DOIs; all papers verified against ArXiv/PubMed APIs.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100% Sandbox Isolation: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  - 100% of malicious execution payloads intercepted by AST parser.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62% Kill Chain Rejection Rate: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  - Successfully pruned flawed hypotheses to the Failure Vault.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Statistical Rigor: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  - Validated tests met p &lt; 0.001 and Cohen's d &gt; 0.8 thresholds.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17320"/>
            <a:ext cx="3383280" cy="4846320"/>
          </a:xfrm>
          <a:prstGeom prst="roundRect">
            <a:avLst/>
          </a:prstGeom>
          <a:solidFill>
            <a:srgbClr val="121829"/>
          </a:solidFill>
          <a:ln w="12700"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600200"/>
            <a:ext cx="2926080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🏆  Test Suite Pass Status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Pipeline Integration: PASSED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10-Stage Kill Chain: PASSED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AST Code Sandbox: PASSED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Citation Verifier: PASSED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Debate Consensus: PASSED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SQLite Memory Store: PASSED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Capsule Exporter: PASSED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Overall Test Pass Rate: 100%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Core Engine Coverage: &gt; 92%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10 • SUMMARY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Conclusion &amp; Future Enhancement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20640" cy="4846320"/>
          </a:xfrm>
          <a:prstGeom prst="roundRect">
            <a:avLst/>
          </a:prstGeom>
          <a:solidFill>
            <a:srgbClr val="121829"/>
          </a:solidFill>
          <a:ln w="1778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663440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4D399"/>
                </a:solidFill>
              </a:defRPr>
            </a:pPr>
            <a:r>
              <a:t>🎯  Delivered Milestones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Solved AI Sycophancy &amp; Hallucination: 16-agent team tests hypotheses rather than blindly agreeing.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Active Empirical Execution: Replaced static text generation with AST-sandboxed Python execution.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Accelerated Literature Review: Reduces weeks of manual paper review into minutes.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Complete Reproducibility: Direct export of verified capsules into PPTX, DOCX, LaTeX, and PDF.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4846320"/>
          </a:xfrm>
          <a:prstGeom prst="roundRect">
            <a:avLst/>
          </a:prstGeom>
          <a:solidFill>
            <a:srgbClr val="121829"/>
          </a:solidFill>
          <a:ln w="1778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754880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🚀  Future Enhancement Roadmap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1. Expanded Database Access: Connect to IEEE Xplore, Semantic Scholar, and ScienceDirect APIs.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2. Automated Dataset Fetching: Ingest real-world benchmark datasets automatically from Kaggle and HuggingFace.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3. Robotic Wet-Lab Integration: Interface sandbox experiment scripts with cloud robotics lab APIs (e.g., Emerald Cloud Lab).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4. Real-Time Collaborative Sessions: Enable multi-user researcher logins with live human-in-the-loop steering.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11 • BIBLIOGRAPHY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References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728655" cy="4846320"/>
          </a:xfrm>
          <a:prstGeom prst="roundRect">
            <a:avLst/>
          </a:prstGeom>
          <a:solidFill>
            <a:srgbClr val="121829"/>
          </a:solidFill>
          <a:ln>
            <a:solidFill>
              <a:srgbClr val="1F2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50">
                <a:solidFill>
                  <a:srgbClr val="F8FAFC"/>
                </a:solidFill>
              </a:defRPr>
            </a:pPr>
            <a:r>
              <a:t>[1] R. Sharma, K. Patel, and S. Davis, 'Multi-Agent Debate Architectures for Fact Checking,' IEEE Transactions on Artificial Intelligence (TAI), vol. 7, no. 2, pp. 145-159, 2026.</a:t>
            </a:r>
          </a:p>
          <a:p>
            <a:pPr>
              <a:spcAft>
                <a:spcPts val="1000"/>
              </a:spcAft>
              <a:defRPr sz="1150">
                <a:solidFill>
                  <a:srgbClr val="F8FAFC"/>
                </a:solidFill>
              </a:defRPr>
            </a:pPr>
            <a:r>
              <a:t>[2] A. Mehta, T. Tanaka, and H. Becker, 'Secure AST Analysis for Automated Code Generation,' IEEE Transactions on Software Engineering (TSE), vol. 52, no. 4, pp. 312-328, 2026.</a:t>
            </a:r>
          </a:p>
          <a:p>
            <a:pPr>
              <a:spcAft>
                <a:spcPts val="1000"/>
              </a:spcAft>
              <a:defRPr sz="1150">
                <a:solidFill>
                  <a:srgbClr val="F8FAFC"/>
                </a:solidFill>
              </a:defRPr>
            </a:pPr>
            <a:r>
              <a:t>[3] M. Roberts, Y. Lin, and J. Gomez, 'Automated Metric Frameworks for Measuring Novelty in Scientific Literature,' IEEE Access, vol. 14, pp. 8892-8905, 2026.</a:t>
            </a:r>
          </a:p>
          <a:p>
            <a:pPr>
              <a:spcAft>
                <a:spcPts val="1000"/>
              </a:spcAft>
              <a:defRPr sz="1150">
                <a:solidFill>
                  <a:srgbClr val="F8FAFC"/>
                </a:solidFill>
              </a:defRPr>
            </a:pPr>
            <a:r>
              <a:t>[4] D. Miller, C. Wang, and F. Rossi, 'RAG-Driven Knowledge Retrieval for Hypothesis Formulation,' ACM Computing Surveys (CSUR), vol. 58, no. 3, pp. 1-34, 2026.</a:t>
            </a:r>
          </a:p>
          <a:p>
            <a:pPr>
              <a:spcAft>
                <a:spcPts val="1000"/>
              </a:spcAft>
              <a:defRPr sz="1150">
                <a:solidFill>
                  <a:srgbClr val="F8FAFC"/>
                </a:solidFill>
              </a:defRPr>
            </a:pPr>
            <a:r>
              <a:t>[5] E. Johnson, P. Kumar, and N. White, 'Self-Correcting LLM Frameworks for Scientific Discovery,' Artificial Intelligence Review, Elsevier, vol. 63, pp. 401-419, 2026.</a:t>
            </a:r>
          </a:p>
          <a:p>
            <a:pPr>
              <a:spcAft>
                <a:spcPts val="1000"/>
              </a:spcAft>
              <a:defRPr sz="1150">
                <a:solidFill>
                  <a:srgbClr val="F8FAFC"/>
                </a:solidFill>
              </a:defRPr>
            </a:pPr>
            <a:r>
              <a:t>[6] J. Pearl and D. Mackenzie, 'The Book of Why: The New Science of Cause and Effect,' Basic Books, New York, NY, USA, 2018.</a:t>
            </a:r>
          </a:p>
          <a:p>
            <a:pPr>
              <a:spcAft>
                <a:spcPts val="1000"/>
              </a:spcAft>
              <a:defRPr sz="1150">
                <a:solidFill>
                  <a:srgbClr val="F8FAFC"/>
                </a:solidFill>
              </a:defRPr>
            </a:pPr>
            <a:r>
              <a:t>[7] K. Popper, 'The Logic of Scientific Discovery,' Routledge Classics, London, UK, 2002.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